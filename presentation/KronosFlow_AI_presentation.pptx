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2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v1 (baseline)</c:v>
                </c:pt>
              </c:strCache>
            </c:strRef>
          </c:tx>
          <c:spPr>
            <a:solidFill>
              <a:srgbClr val="AFC3E0">
                <a:alpha val="100000"/>
              </a:srgbClr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F23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Random Forest</c:v>
                  </c:pt>
                  <c:pt idx="1">
                    <c:v>LSTM+Attention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0.213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v2 (denna körning)</c:v>
                </c:pt>
              </c:strCache>
            </c:strRef>
          </c:tx>
          <c:spPr>
            <a:solidFill>
              <a:srgbClr val="06D6A0">
                <a:alpha val="100000"/>
              </a:srgbClr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F23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Random Forest</c:v>
                  </c:pt>
                  <c:pt idx="1">
                    <c:v>LSTM+Attention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0.207</c:v>
                </c:pt>
                <c:pt idx="1">
                  <c:v>0.239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0F234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28"/>
          <c:min val="0"/>
        </c:scaling>
        <c:delete val="0"/>
        <c:axPos val="l"/>
        <c:majorGridlines>
          <c:spPr>
            <a:ln w="12700" cap="flat">
              <a:solidFill>
                <a:srgbClr val="E7EC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v1</c:v>
                </c:pt>
              </c:strCache>
            </c:strRef>
          </c:tx>
          <c:spPr>
            <a:solidFill>
              <a:srgbClr val="AFC3E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0F23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Random Forest</c:v>
                  </c:pt>
                  <c:pt idx="1">
                    <c:v>LSTM+Attention</c:v>
                  </c:pt>
                  <c:pt idx="2">
                    <c:v>Buy &amp; Hold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4.1</c:v>
                </c:pt>
                <c:pt idx="1">
                  <c:v>-0.4</c:v>
                </c:pt>
                <c:pt idx="2">
                  <c:v>4.06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v2</c:v>
                </c:pt>
              </c:strCache>
            </c:strRef>
          </c:tx>
          <c:spPr>
            <a:solidFill>
              <a:srgbClr val="06D6A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0F23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Random Forest</c:v>
                  </c:pt>
                  <c:pt idx="1">
                    <c:v>LSTM+Attention</c:v>
                  </c:pt>
                  <c:pt idx="2">
                    <c:v>Buy &amp; Hold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2.69</c:v>
                </c:pt>
                <c:pt idx="1">
                  <c:v>4.51</c:v>
                </c:pt>
                <c:pt idx="2">
                  <c:v>4.08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50" u="none">
                  <a:solidFill>
                    <a:srgbClr val="0F234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7EC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1.xml"/><Relationship Id="rId1" Type="http://schemas.openxmlformats.org/officeDocument/2006/relationships/image" Target="../media/Slide-15-image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2.xml"/><Relationship Id="rId1" Type="http://schemas.openxmlformats.org/officeDocument/2006/relationships/image" Target="../media/Slide-16-image-1.png"/><Relationship Id="rId2" Type="http://schemas.openxmlformats.org/officeDocument/2006/relationships/image" Target="../media/image-16-2.png"/><Relationship Id="rId4" Type="http://schemas.openxmlformats.org/officeDocument/2006/relationships/image" Target="../media/image-16-3.png"/><Relationship Id="rId5" Type="http://schemas.openxmlformats.org/officeDocument/2006/relationships/image" Target="../media/image-16-4.png"/><Relationship Id="rId6" Type="http://schemas.openxmlformats.org/officeDocument/2006/relationships/image" Target="../media/image-16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1000/-mnt-exos-4-python-jensen-webb-sommar-projekt/9ca695cc-9ab3-437d-be00-29339472fdd2/scratchpad/pptx_build/network_mint.png">    </p:cNvPr>
          <p:cNvPicPr>
            <a:picLocks noChangeAspect="1"/>
          </p:cNvPicPr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6522415" y="-274320"/>
            <a:ext cx="6035040" cy="7406640"/>
          </a:xfrm>
          <a:prstGeom prst="rect">
            <a:avLst/>
          </a:prstGeom>
        </p:spPr>
      </p:pic>
      <p:pic>
        <p:nvPicPr>
          <p:cNvPr id="3" name="Image 1" descr="/tmp/claude-1000/-mnt-exos-4-python-jensen-webb-sommar-projekt/9ca695cc-9ab3-437d-be00-29339472fdd2/scratchpad/pptx_build/candles_mint.png">    </p:cNvPr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-822960" y="3977640"/>
            <a:ext cx="2743200" cy="41148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22960" y="233172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KRONOSFLOW AI</a:t>
            </a:r>
            <a:endParaRPr lang="en-US" sz="5400" dirty="0"/>
          </a:p>
        </p:txBody>
      </p:sp>
      <p:sp>
        <p:nvSpPr>
          <p:cNvPr id="5" name="Text 1"/>
          <p:cNvSpPr/>
          <p:nvPr/>
        </p:nvSpPr>
        <p:spPr>
          <a:xfrm>
            <a:off x="868680" y="324612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F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AI-driven analys av OMXS30</a:t>
            </a:r>
            <a:endParaRPr lang="en-US" sz="2000" dirty="0"/>
          </a:p>
        </p:txBody>
      </p:sp>
      <p:sp>
        <p:nvSpPr>
          <p:cNvPr id="6" name="Shape 2"/>
          <p:cNvSpPr/>
          <p:nvPr/>
        </p:nvSpPr>
        <p:spPr>
          <a:xfrm>
            <a:off x="868680" y="3886200"/>
            <a:ext cx="502920" cy="41148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7" name="Text 3"/>
          <p:cNvSpPr/>
          <p:nvPr/>
        </p:nvSpPr>
        <p:spPr>
          <a:xfrm>
            <a:off x="868680" y="4069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Från rådata till handelssignal: pipeline, modeller och lärdomar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868680" y="5989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F8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TILLÄMPAD AI  ·  SOMMARPROJEKT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1000/-mnt-exos-4-python-jensen-webb-sommar-projekt/9ca695cc-9ab3-437d-be00-29339472fdd2/scratchpad/pptx_build/network_mint.png">    </p:cNvPr>
          <p:cNvPicPr>
            <a:picLocks noChangeAspect="1"/>
          </p:cNvPicPr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6522415" y="-274320"/>
            <a:ext cx="6035040" cy="7406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4FA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VARFÖR PROJEKTET FINNS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6035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Brygga gapet mellan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AI-prediktion och verklig avkastning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2331720"/>
            <a:ext cx="6035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AEC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 bygga och deploya handelsstrategier baserade på maskininlärning kräver rigorös validering. Projektet kombinerar teknisk indikator-analys med övervakade ML-modeller för att utvärdera prediktionsförmåga på riktig historisk aktiedata — och mäter det ärligt mot en enkel Buy &amp; Hold-baseline.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7040880" y="2331720"/>
            <a:ext cx="566928" cy="566928"/>
          </a:xfrm>
          <a:prstGeom prst="ellipse">
            <a:avLst/>
          </a:prstGeom>
          <a:solidFill>
            <a:srgbClr val="06D6A0"/>
          </a:solidFill>
          <a:ln/>
        </p:spPr>
      </p:sp>
      <p:pic>
        <p:nvPicPr>
          <p:cNvPr id="7" name="Image 1" descr="/tmp/claude-1000/-mnt-exos-4-python-jensen-webb-sommar-projekt/9ca695cc-9ab3-437d-be00-29339472fdd2/scratchpad/pptx_build/icons/bullsey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0250" y="2411090"/>
            <a:ext cx="408188" cy="4081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818120" y="230428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Motverka overfitting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7818120" y="2642616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EC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dagars data hålls helt utanför träningen (Out-of-Sample).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7040880" y="3630168"/>
            <a:ext cx="566928" cy="566928"/>
          </a:xfrm>
          <a:prstGeom prst="ellipse">
            <a:avLst/>
          </a:prstGeom>
          <a:solidFill>
            <a:srgbClr val="4FACFE"/>
          </a:solidFill>
          <a:ln/>
        </p:spPr>
      </p:sp>
      <p:pic>
        <p:nvPicPr>
          <p:cNvPr id="11" name="Image 2" descr="/tmp/claude-1000/-mnt-exos-4-python-jensen-webb-sommar-projekt/9ca695cc-9ab3-437d-be00-29339472fdd2/scratchpad/pptx_build/icons/chartAre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0250" y="3709538"/>
            <a:ext cx="408188" cy="40818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818120" y="3602736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Visualisera prestanda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7818120" y="3941064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EC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Precision, Recall, F1, ROC-AUC och kapitalkurvor sida vid sida.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7040880" y="4928616"/>
            <a:ext cx="566928" cy="566928"/>
          </a:xfrm>
          <a:prstGeom prst="ellipse">
            <a:avLst/>
          </a:prstGeom>
          <a:solidFill>
            <a:srgbClr val="FFD166"/>
          </a:solidFill>
          <a:ln/>
        </p:spPr>
      </p:sp>
      <p:pic>
        <p:nvPicPr>
          <p:cNvPr id="15" name="Image 3" descr="/tmp/claude-1000/-mnt-exos-4-python-jensen-webb-sommar-projekt/9ca695cc-9ab3-437d-be00-29339472fdd2/scratchpad/pptx_build/icons/brid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0250" y="5007986"/>
            <a:ext cx="408188" cy="40818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818120" y="4901184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Brygga prediktion → avkastning</a:t>
            </a:r>
            <a:endParaRPr lang="en-US" sz="1500" dirty="0"/>
          </a:p>
        </p:txBody>
      </p:sp>
      <p:sp>
        <p:nvSpPr>
          <p:cNvPr id="17" name="Text 11"/>
          <p:cNvSpPr/>
          <p:nvPr/>
        </p:nvSpPr>
        <p:spPr>
          <a:xfrm>
            <a:off x="7818120" y="5239512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EC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Klassificering testas mot en verklig portfölj-backtest, inte bara metrik.</a:t>
            </a:r>
            <a:endParaRPr lang="en-US" sz="1150" dirty="0"/>
          </a:p>
        </p:txBody>
      </p:sp>
      <p:sp>
        <p:nvSpPr>
          <p:cNvPr id="18" name="Text 1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E9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KronosFlow AI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1000/-mnt-exos-4-python-jensen-webb-sommar-projekt/9ca695cc-9ab3-437d-be00-29339472fdd2/scratchpad/pptx_build/network_sky.png">    </p:cNvPr>
          <p:cNvPicPr>
            <a:picLocks noChangeAspect="1"/>
          </p:cNvPicPr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6522415" y="-274320"/>
            <a:ext cx="6035040" cy="7406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4FA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AMBITIONEN, ÄRLIGT TALAT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68680" y="1965960"/>
            <a:ext cx="104241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 mest realistiska ambitionen för ett personligt enmansprojekt är inte att “slå marknaden konsekvent”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868680" y="3977640"/>
            <a:ext cx="502920" cy="41148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4160520"/>
            <a:ext cx="9144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i="1" dirty="0">
                <a:solidFill>
                  <a:srgbClr val="C7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utan ett beslutsstöd som hjälper dig fatta mer disciplinerade, bättre underbyggda beslut än magkänsla. Det är en helt annan, och mycket mer uppnåelig, målsättning.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E9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KronosFlow AI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1000/-mnt-exos-4-python-jensen-webb-sommar-projekt/9ca695cc-9ab3-437d-be00-29339472fdd2/scratchpad/pptx_build/network_sky.png">    </p:cNvPr>
          <p:cNvPicPr>
            <a:picLocks noChangeAspect="1"/>
          </p:cNvPicPr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6522415" y="-274320"/>
            <a:ext cx="6035040" cy="7406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4FA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SÅ BYGGDES PROJEKTET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komplett pipeline, åtta milstolpar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C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Varje steg körs live mot projektets faktiska data — se den fulla genomgången i notebooken.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85800" y="3246120"/>
            <a:ext cx="960120" cy="960120"/>
          </a:xfrm>
          <a:prstGeom prst="ellipse">
            <a:avLst/>
          </a:prstGeom>
          <a:solidFill>
            <a:srgbClr val="4FACFE"/>
          </a:solidFill>
          <a:ln/>
        </p:spPr>
      </p:sp>
      <p:pic>
        <p:nvPicPr>
          <p:cNvPr id="7" name="Image 1" descr="/tmp/claude-1000/-mnt-exos-4-python-jensen-webb-sommar-projekt/9ca695cc-9ab3-437d-be00-29339472fdd2/scratchpad/pptx_build/icons/cloudDownloa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217" y="3380537"/>
            <a:ext cx="691286" cy="69128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28600" y="4315968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Data-ingestion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228600" y="4773168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C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yfinance → SQLite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1700784" y="3715207"/>
            <a:ext cx="777240" cy="21946"/>
          </a:xfrm>
          <a:prstGeom prst="rect">
            <a:avLst/>
          </a:prstGeom>
          <a:solidFill>
            <a:srgbClr val="D7E1F0"/>
          </a:solidFill>
          <a:ln/>
        </p:spPr>
      </p:sp>
      <p:sp>
        <p:nvSpPr>
          <p:cNvPr id="11" name="Shape 7"/>
          <p:cNvSpPr/>
          <p:nvPr/>
        </p:nvSpPr>
        <p:spPr>
          <a:xfrm>
            <a:off x="2532888" y="3246120"/>
            <a:ext cx="960120" cy="960120"/>
          </a:xfrm>
          <a:prstGeom prst="ellipse">
            <a:avLst/>
          </a:prstGeom>
          <a:solidFill>
            <a:srgbClr val="06D6A0"/>
          </a:solidFill>
          <a:ln/>
        </p:spPr>
      </p:sp>
      <p:pic>
        <p:nvPicPr>
          <p:cNvPr id="12" name="Image 2" descr="/tmp/claude-1000/-mnt-exos-4-python-jensen-webb-sommar-projekt/9ca695cc-9ab3-437d-be00-29339472fdd2/scratchpad/pptx_build/icons/broo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7305" y="3380537"/>
            <a:ext cx="691286" cy="69128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075688" y="4315968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Datarening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2075688" y="4773168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C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ffill/bfill, RobustScaler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3547872" y="3715207"/>
            <a:ext cx="777240" cy="21946"/>
          </a:xfrm>
          <a:prstGeom prst="rect">
            <a:avLst/>
          </a:prstGeom>
          <a:solidFill>
            <a:srgbClr val="D7E1F0"/>
          </a:solidFill>
          <a:ln/>
        </p:spPr>
      </p:sp>
      <p:sp>
        <p:nvSpPr>
          <p:cNvPr id="16" name="Shape 11"/>
          <p:cNvSpPr/>
          <p:nvPr/>
        </p:nvSpPr>
        <p:spPr>
          <a:xfrm>
            <a:off x="4379976" y="3246120"/>
            <a:ext cx="960120" cy="960120"/>
          </a:xfrm>
          <a:prstGeom prst="ellipse">
            <a:avLst/>
          </a:prstGeom>
          <a:solidFill>
            <a:srgbClr val="FFD166"/>
          </a:solidFill>
          <a:ln/>
        </p:spPr>
      </p:sp>
      <p:pic>
        <p:nvPicPr>
          <p:cNvPr id="17" name="Image 3" descr="/tmp/claude-1000/-mnt-exos-4-python-jensen-webb-sommar-projekt/9ca695cc-9ab3-437d-be00-29339472fdd2/scratchpad/pptx_build/icons/layer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4393" y="3380537"/>
            <a:ext cx="691286" cy="69128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922776" y="4315968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&amp; PCA/K-Means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3922776" y="4773168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C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indikatorer + regimer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394960" y="3715207"/>
            <a:ext cx="777240" cy="21946"/>
          </a:xfrm>
          <a:prstGeom prst="rect">
            <a:avLst/>
          </a:prstGeom>
          <a:solidFill>
            <a:srgbClr val="D7E1F0"/>
          </a:solidFill>
          <a:ln/>
        </p:spPr>
      </p:sp>
      <p:sp>
        <p:nvSpPr>
          <p:cNvPr id="21" name="Shape 15"/>
          <p:cNvSpPr/>
          <p:nvPr/>
        </p:nvSpPr>
        <p:spPr>
          <a:xfrm>
            <a:off x="6227064" y="3246120"/>
            <a:ext cx="960120" cy="960120"/>
          </a:xfrm>
          <a:prstGeom prst="ellipse">
            <a:avLst/>
          </a:prstGeom>
          <a:solidFill>
            <a:srgbClr val="06D6A0"/>
          </a:solidFill>
          <a:ln/>
        </p:spPr>
      </p:sp>
      <p:pic>
        <p:nvPicPr>
          <p:cNvPr id="22" name="Image 4" descr="/tmp/claude-1000/-mnt-exos-4-python-jensen-webb-sommar-projekt/9ca695cc-9ab3-437d-be00-29339472fdd2/scratchpad/pptx_build/icons/brai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1481" y="3380537"/>
            <a:ext cx="691286" cy="69128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769864" y="4315968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Modellträning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5769864" y="4773168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C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+ LSTM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7242048" y="3715207"/>
            <a:ext cx="777240" cy="21946"/>
          </a:xfrm>
          <a:prstGeom prst="rect">
            <a:avLst/>
          </a:prstGeom>
          <a:solidFill>
            <a:srgbClr val="D7E1F0"/>
          </a:solidFill>
          <a:ln/>
        </p:spPr>
      </p:sp>
      <p:sp>
        <p:nvSpPr>
          <p:cNvPr id="26" name="Shape 19"/>
          <p:cNvSpPr/>
          <p:nvPr/>
        </p:nvSpPr>
        <p:spPr>
          <a:xfrm>
            <a:off x="8074152" y="3246120"/>
            <a:ext cx="960120" cy="960120"/>
          </a:xfrm>
          <a:prstGeom prst="ellipse">
            <a:avLst/>
          </a:prstGeom>
          <a:solidFill>
            <a:srgbClr val="4FACFE"/>
          </a:solidFill>
          <a:ln/>
        </p:spPr>
      </p:sp>
      <p:pic>
        <p:nvPicPr>
          <p:cNvPr id="27" name="Image 5" descr="/tmp/claude-1000/-mnt-exos-4-python-jensen-webb-sommar-projekt/9ca695cc-9ab3-437d-be00-29339472fdd2/scratchpad/pptx_build/icons/chartb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08569" y="3380537"/>
            <a:ext cx="691286" cy="691286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616952" y="4315968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Utvärdering</a:t>
            </a:r>
            <a:endParaRPr lang="en-US" sz="1250" dirty="0"/>
          </a:p>
        </p:txBody>
      </p:sp>
      <p:sp>
        <p:nvSpPr>
          <p:cNvPr id="29" name="Text 21"/>
          <p:cNvSpPr/>
          <p:nvPr/>
        </p:nvSpPr>
        <p:spPr>
          <a:xfrm>
            <a:off x="7616952" y="4773168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C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ROC-AUC, backtest</a:t>
            </a:r>
            <a:endParaRPr lang="en-US" sz="1000" dirty="0"/>
          </a:p>
        </p:txBody>
      </p:sp>
      <p:sp>
        <p:nvSpPr>
          <p:cNvPr id="30" name="Shape 22"/>
          <p:cNvSpPr/>
          <p:nvPr/>
        </p:nvSpPr>
        <p:spPr>
          <a:xfrm>
            <a:off x="9089136" y="3715207"/>
            <a:ext cx="777240" cy="21946"/>
          </a:xfrm>
          <a:prstGeom prst="rect">
            <a:avLst/>
          </a:prstGeom>
          <a:solidFill>
            <a:srgbClr val="D7E1F0"/>
          </a:solidFill>
          <a:ln/>
        </p:spPr>
      </p:sp>
      <p:sp>
        <p:nvSpPr>
          <p:cNvPr id="31" name="Shape 23"/>
          <p:cNvSpPr/>
          <p:nvPr/>
        </p:nvSpPr>
        <p:spPr>
          <a:xfrm>
            <a:off x="9921240" y="3246120"/>
            <a:ext cx="960120" cy="960120"/>
          </a:xfrm>
          <a:prstGeom prst="ellipse">
            <a:avLst/>
          </a:prstGeom>
          <a:solidFill>
            <a:srgbClr val="FFD166"/>
          </a:solidFill>
          <a:ln/>
        </p:spPr>
      </p:sp>
      <p:pic>
        <p:nvPicPr>
          <p:cNvPr id="32" name="Image 6" descr="/tmp/claude-1000/-mnt-exos-4-python-jensen-webb-sommar-projekt/9ca695cc-9ab3-437d-be00-29339472fdd2/scratchpad/pptx_build/icons/deskto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55657" y="3380537"/>
            <a:ext cx="691286" cy="691286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9464040" y="4315968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50" dirty="0"/>
          </a:p>
        </p:txBody>
      </p:sp>
      <p:sp>
        <p:nvSpPr>
          <p:cNvPr id="34" name="Text 25"/>
          <p:cNvSpPr/>
          <p:nvPr/>
        </p:nvSpPr>
        <p:spPr>
          <a:xfrm>
            <a:off x="9464040" y="4773168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C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Streamlit-app</a:t>
            </a:r>
            <a:endParaRPr lang="en-US" sz="1000" dirty="0"/>
          </a:p>
        </p:txBody>
      </p:sp>
      <p:sp>
        <p:nvSpPr>
          <p:cNvPr id="35" name="Shape 26"/>
          <p:cNvSpPr/>
          <p:nvPr/>
        </p:nvSpPr>
        <p:spPr>
          <a:xfrm>
            <a:off x="548640" y="5532120"/>
            <a:ext cx="11064240" cy="777240"/>
          </a:xfrm>
          <a:prstGeom prst="roundRect">
            <a:avLst>
              <a:gd name="adj" fmla="val 10588"/>
            </a:avLst>
          </a:prstGeom>
          <a:solidFill>
            <a:srgbClr val="132247"/>
          </a:solidFill>
          <a:ln w="12700">
            <a:solidFill>
              <a:srgbClr val="2B3E6B"/>
            </a:solidFill>
            <a:prstDash val="solid"/>
          </a:ln>
        </p:spPr>
      </p:sp>
      <p:sp>
        <p:nvSpPr>
          <p:cNvPr id="36" name="Text 27"/>
          <p:cNvSpPr/>
          <p:nvPr/>
        </p:nvSpPr>
        <p:spPr>
          <a:xfrm>
            <a:off x="822960" y="574243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milstolpar  </a:t>
            </a:r>
            <a:pPr algn="l" indent="0" marL="0">
              <a:buNone/>
            </a:pPr>
            <a:r>
              <a:rPr lang="en-US" sz="1350" dirty="0">
                <a:solidFill>
                  <a:srgbClr val="AEC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19 OMXS30-aktier  · </a:t>
            </a:r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2016–2026  </a:t>
            </a:r>
            <a:pPr algn="l" indent="0" marL="0">
              <a:buNone/>
            </a:pPr>
            <a:r>
              <a:rPr lang="en-US" sz="1350" dirty="0">
                <a:solidFill>
                  <a:srgbClr val="AEC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50 459</a:t>
            </a:r>
            <a:pPr algn="l" indent="0" marL="0">
              <a:buNone/>
            </a:pPr>
            <a:r>
              <a:rPr lang="en-US" sz="1350" dirty="0">
                <a:solidFill>
                  <a:srgbClr val="AEC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prisrader i SQLite</a:t>
            </a:r>
            <a:endParaRPr lang="en-US" sz="1350" dirty="0"/>
          </a:p>
        </p:txBody>
      </p:sp>
      <p:sp>
        <p:nvSpPr>
          <p:cNvPr id="37" name="Text 2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E9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KronosFlow AI</a:t>
            </a:r>
            <a:endParaRPr lang="en-US" sz="900" dirty="0"/>
          </a:p>
        </p:txBody>
      </p:sp>
      <p:sp>
        <p:nvSpPr>
          <p:cNvPr id="38" name="Text 29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1000/-mnt-exos-4-python-jensen-webb-sommar-projekt/9ca695cc-9ab3-437d-be00-29339472fdd2/scratchpad/pptx_build/network_mint.png">    </p:cNvPr>
          <p:cNvPicPr>
            <a:picLocks noChangeAspect="1"/>
          </p:cNvPicPr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6522415" y="-274320"/>
            <a:ext cx="6035040" cy="7406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4FA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MILSTOLPE 2 — DATAINGESTION &amp; LAGRING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Historisk OMXS30-data i</a:t>
            </a:r>
            <a:endParaRPr lang="en-US" sz="2700" dirty="0"/>
          </a:p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lokal SQLite-databas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48640" y="228600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4FAC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548640" y="277977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EC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OMXS30-tickers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324612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4FAC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10,7 år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548640" y="373989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EC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2016-01-04 → 2026-08-24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420624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4FAC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50 459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548640" y="470001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EC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prisrader totalt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5349240"/>
            <a:ext cx="5120640" cy="960120"/>
          </a:xfrm>
          <a:prstGeom prst="roundRect">
            <a:avLst>
              <a:gd name="adj" fmla="val 8571"/>
            </a:avLst>
          </a:prstGeom>
          <a:solidFill>
            <a:srgbClr val="132247"/>
          </a:solidFill>
          <a:ln w="12700">
            <a:solidFill>
              <a:srgbClr val="2B3E6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77240" y="5559552"/>
            <a:ext cx="502920" cy="502920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13" name="Image 1" descr="/tmp/claude-1000/-mnt-exos-4-python-jensen-webb-sommar-projekt/9ca695cc-9ab3-437d-be00-29339472fdd2/scratchpad/pptx_build/icons/warn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649" y="5629961"/>
            <a:ext cx="362102" cy="36210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44752" y="5440680"/>
            <a:ext cx="4069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Hinder: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EC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ESSITY-B.ST knoppades av 2017 — kortare historik än övriga 18 tickers. Pipelinen hanterar varierande seriélängd per ticker.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989320" y="1417320"/>
            <a:ext cx="5669280" cy="493776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30814">
                <a:alpha val="35000"/>
              </a:srgbClr>
            </a:outerShdw>
          </a:effectLst>
        </p:spPr>
      </p:sp>
      <p:pic>
        <p:nvPicPr>
          <p:cNvPr id="16" name="Image 2" descr="/tmp/claude-1000/-mnt-exos-4-python-jensen-webb-sommar-projekt/9ca695cc-9ab3-437d-be00-29339472fdd2/scratchpad/pptx_assets/coverage_bar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172200" y="1645920"/>
            <a:ext cx="5257800" cy="44805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E9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KronosFlow AI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1000/-mnt-exos-4-python-jensen-webb-sommar-projekt/9ca695cc-9ab3-437d-be00-29339472fdd2/scratchpad/pptx_build/network_sky.png">    </p:cNvPr>
          <p:cNvPicPr>
            <a:picLocks noChangeAspect="1"/>
          </p:cNvPicPr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6522415" y="-274320"/>
            <a:ext cx="6035040" cy="7406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4FA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MILSTOLPE 3A — DATARENING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Rullande fönster skapar NaN — rening sker i feature-steget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874520"/>
            <a:ext cx="3538728" cy="384048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30814">
                <a:alpha val="3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22960" y="2194560"/>
            <a:ext cx="640080" cy="640080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7" name="Image 1" descr="/tmp/claude-1000/-mnt-exos-4-python-jensen-webb-sommar-projekt/9ca695cc-9ab3-437d-be00-29339472fdd2/scratchpad/pptx_build/icons/warn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571" y="2284171"/>
            <a:ext cx="460858" cy="46085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" y="2971800"/>
            <a:ext cx="2990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Problemet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822960" y="3429000"/>
            <a:ext cx="299008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SMA-200, RSI-14 och Bollinger Bands bygger på rullande fönster — de första ~200 dagarna per ticker saknar värden. +/-inf uppstår när nämnare (t.ex. sma_50) går mot noll.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4315968" y="1874520"/>
            <a:ext cx="3538728" cy="384048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30814">
                <a:alpha val="3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90288" y="2194560"/>
            <a:ext cx="640080" cy="640080"/>
          </a:xfrm>
          <a:prstGeom prst="ellipse">
            <a:avLst/>
          </a:prstGeom>
          <a:solidFill>
            <a:srgbClr val="06D6A0"/>
          </a:solidFill>
          <a:ln/>
        </p:spPr>
      </p:sp>
      <p:pic>
        <p:nvPicPr>
          <p:cNvPr id="12" name="Image 2" descr="/tmp/claude-1000/-mnt-exos-4-python-jensen-webb-sommar-projekt/9ca695cc-9ab3-437d-be00-29339472fdd2/scratchpad/pptx_build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9899" y="2284171"/>
            <a:ext cx="460858" cy="46085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590288" y="2971800"/>
            <a:ext cx="2990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Beslutet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4590288" y="3429000"/>
            <a:ext cx="299008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Forward-fill → backward-fill → fillna(0) istället för dropna() — bevarar en sammanhängande tidsserie, vilket krävs för 30-dagars LSTM-sekvenser. +/-inf ersätts explicit innan fyllning.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8083296" y="1874520"/>
            <a:ext cx="3538728" cy="384048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30814">
                <a:alpha val="35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357616" y="2194560"/>
            <a:ext cx="640080" cy="640080"/>
          </a:xfrm>
          <a:prstGeom prst="ellipse">
            <a:avLst/>
          </a:prstGeom>
          <a:solidFill>
            <a:srgbClr val="4FACFE"/>
          </a:solidFill>
          <a:ln/>
        </p:spPr>
      </p:sp>
      <p:pic>
        <p:nvPicPr>
          <p:cNvPr id="17" name="Image 3" descr="/tmp/claude-1000/-mnt-exos-4-python-jensen-webb-sommar-projekt/9ca695cc-9ab3-437d-be00-29339472fdd2/scratchpad/pptx_build/icons/balanc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7227" y="2284171"/>
            <a:ext cx="460858" cy="46085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357616" y="2971800"/>
            <a:ext cx="2990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Skalning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8357616" y="3429000"/>
            <a:ext cx="299008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RobustScaler (median/IQR) valdes istället för MinMax/Standard — aktiekurser och volym innehåller kraftiga outliers (rapportdagar, kursrusningar) som annars dominerar skalningen.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E9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KronosFlow AI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1000/-mnt-exos-4-python-jensen-webb-sommar-projekt/9ca695cc-9ab3-437d-be00-29339472fdd2/scratchpad/pptx_build/network_mint.png">    </p:cNvPr>
          <p:cNvPicPr>
            <a:picLocks noChangeAspect="1"/>
          </p:cNvPicPr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6522415" y="-274320"/>
            <a:ext cx="6035040" cy="7406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4FA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MILSTOLPE 3B/4 — FEATURE ENGINEERING &amp; EDA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PCA + K-Means avslöjar</a:t>
            </a:r>
            <a:endParaRPr lang="en-US" sz="2700" dirty="0"/>
          </a:p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marknadsregimer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48640" y="233172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EC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features (RSI, MACD, Bollinger, ATR, volymsurge m.fl.) reduceras med PCA till 3 komponenter. K-Means grupperar därefter varje dag i en av tre marknadsregimer — en oövervakad signal som matas in som feature till båda de övervakade modellerna.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3977640"/>
            <a:ext cx="548640" cy="548640"/>
          </a:xfrm>
          <a:prstGeom prst="ellipse">
            <a:avLst/>
          </a:prstGeom>
          <a:solidFill>
            <a:srgbClr val="FFD166"/>
          </a:solidFill>
          <a:ln/>
        </p:spPr>
      </p:sp>
      <p:pic>
        <p:nvPicPr>
          <p:cNvPr id="7" name="Image 1" descr="/tmp/claude-1000/-mnt-exos-4-python-jensen-webb-sommar-projekt/9ca695cc-9ab3-437d-be00-29339472fdd2/scratchpad/pptx_build/icons/chartpi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50" y="4054450"/>
            <a:ext cx="395021" cy="39502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4005072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Beslut: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EC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regimerna beräknas per ticker (lokalt), inte portföljbrett — en medveten begränsning värd att notera.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5989320" y="1417320"/>
            <a:ext cx="5669280" cy="493776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30814">
                <a:alpha val="35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6263640" y="16002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marknadsregimer i PCA-rymden</a:t>
            </a:r>
            <a:endParaRPr lang="en-US" sz="1300" dirty="0"/>
          </a:p>
        </p:txBody>
      </p:sp>
      <p:pic>
        <p:nvPicPr>
          <p:cNvPr id="11" name="Image 2" descr="/tmp/claude-1000/-mnt-exos-4-python-jensen-webb-sommar-projekt/9ca695cc-9ab3-437d-be00-29339472fdd2/scratchpad/pptx_assets/pca_regime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172200" y="1965960"/>
            <a:ext cx="5257800" cy="41605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E9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KronosFlow AI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1000/-mnt-exos-4-python-jensen-webb-sommar-projekt/9ca695cc-9ab3-437d-be00-29339472fdd2/scratchpad/pptx_build/network_sky.png">    </p:cNvPr>
          <p:cNvPicPr>
            <a:picLocks noChangeAspect="1"/>
          </p:cNvPicPr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6522415" y="-274320"/>
            <a:ext cx="6035040" cy="7406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4FA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MILSTOLPE 5 — MODELLTRÄNING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Två arkitekturer, samma features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5349240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30814">
                <a:alpha val="3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68680" y="1920240"/>
            <a:ext cx="685800" cy="685800"/>
          </a:xfrm>
          <a:prstGeom prst="ellipse">
            <a:avLst/>
          </a:prstGeom>
          <a:solidFill>
            <a:srgbClr val="FFD166"/>
          </a:solidFill>
          <a:ln/>
        </p:spPr>
      </p:sp>
      <p:pic>
        <p:nvPicPr>
          <p:cNvPr id="7" name="Image 1" descr="/tmp/claude-1000/-mnt-exos-4-python-jensen-webb-sommar-projekt/9ca695cc-9ab3-437d-be00-29339472fdd2/scratchpad/pptx_build/icons/tre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" y="2016252"/>
            <a:ext cx="493776" cy="4937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737360" y="1984248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1737360" y="237744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Klassiskt ensemble-träd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868680" y="3054096"/>
            <a:ext cx="82296" cy="82296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1" name="Text 7"/>
          <p:cNvSpPr/>
          <p:nvPr/>
        </p:nvSpPr>
        <p:spPr>
          <a:xfrm>
            <a:off x="1097280" y="289864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träd, max_depth = 12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868680" y="3557016"/>
            <a:ext cx="82296" cy="82296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3" name="Text 9"/>
          <p:cNvSpPr/>
          <p:nvPr/>
        </p:nvSpPr>
        <p:spPr>
          <a:xfrm>
            <a:off x="1097280" y="340156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Plattade 30-dagars sekvenser som input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68680" y="4059936"/>
            <a:ext cx="82296" cy="82296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5" name="Text 11"/>
          <p:cNvSpPr/>
          <p:nvPr/>
        </p:nvSpPr>
        <p:spPr>
          <a:xfrm>
            <a:off x="1097280" y="390448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 = "balanced" (v2)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68680" y="4562856"/>
            <a:ext cx="82296" cy="82296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7" name="Text 13"/>
          <p:cNvSpPr/>
          <p:nvPr/>
        </p:nvSpPr>
        <p:spPr>
          <a:xfrm>
            <a:off x="1097280" y="440740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Snabb, tolkbar (feature importance)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217920" y="1600200"/>
            <a:ext cx="5349240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30814">
                <a:alpha val="3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537960" y="1920240"/>
            <a:ext cx="685800" cy="685800"/>
          </a:xfrm>
          <a:prstGeom prst="ellipse">
            <a:avLst/>
          </a:prstGeom>
          <a:solidFill>
            <a:srgbClr val="06D6A0"/>
          </a:solidFill>
          <a:ln/>
        </p:spPr>
      </p:sp>
      <p:pic>
        <p:nvPicPr>
          <p:cNvPr id="20" name="Image 2" descr="/tmp/claude-1000/-mnt-exos-4-python-jensen-webb-sommar-projekt/9ca695cc-9ab3-437d-be00-29339472fdd2/scratchpad/pptx_build/icons/bra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3972" y="2016252"/>
            <a:ext cx="493776" cy="49377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406640" y="1984248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LSTM + Attention</a:t>
            </a:r>
            <a:endParaRPr lang="en-US" sz="1900" dirty="0"/>
          </a:p>
        </p:txBody>
      </p:sp>
      <p:sp>
        <p:nvSpPr>
          <p:cNvPr id="22" name="Text 17"/>
          <p:cNvSpPr/>
          <p:nvPr/>
        </p:nvSpPr>
        <p:spPr>
          <a:xfrm>
            <a:off x="7406640" y="237744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Djupinlärning, PyTorch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6537960" y="3054096"/>
            <a:ext cx="82296" cy="82296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24" name="Text 19"/>
          <p:cNvSpPr/>
          <p:nvPr/>
        </p:nvSpPr>
        <p:spPr>
          <a:xfrm>
            <a:off x="6766560" y="289864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hidden_size = 64, 2 lager, dropout 0.2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6537960" y="3557016"/>
            <a:ext cx="82296" cy="82296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26" name="Text 21"/>
          <p:cNvSpPr/>
          <p:nvPr/>
        </p:nvSpPr>
        <p:spPr>
          <a:xfrm>
            <a:off x="6766560" y="340156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Attention-mekanism ovanpå LSTM-output</a:t>
            </a:r>
            <a:endParaRPr lang="en-US" sz="1250" dirty="0"/>
          </a:p>
        </p:txBody>
      </p:sp>
      <p:sp>
        <p:nvSpPr>
          <p:cNvPr id="27" name="Shape 22"/>
          <p:cNvSpPr/>
          <p:nvPr/>
        </p:nvSpPr>
        <p:spPr>
          <a:xfrm>
            <a:off x="6537960" y="4059936"/>
            <a:ext cx="82296" cy="82296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28" name="Text 23"/>
          <p:cNvSpPr/>
          <p:nvPr/>
        </p:nvSpPr>
        <p:spPr>
          <a:xfrm>
            <a:off x="6766560" y="390448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 Loss (γ=2.0) + AdamW</a:t>
            </a:r>
            <a:endParaRPr lang="en-US" sz="1250" dirty="0"/>
          </a:p>
        </p:txBody>
      </p:sp>
      <p:sp>
        <p:nvSpPr>
          <p:cNvPr id="29" name="Shape 24"/>
          <p:cNvSpPr/>
          <p:nvPr/>
        </p:nvSpPr>
        <p:spPr>
          <a:xfrm>
            <a:off x="6537960" y="4562856"/>
            <a:ext cx="82296" cy="82296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30" name="Text 25"/>
          <p:cNvSpPr/>
          <p:nvPr/>
        </p:nvSpPr>
        <p:spPr>
          <a:xfrm>
            <a:off x="6766560" y="440740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tränings-epoker (v2, upp från 15)</a:t>
            </a:r>
            <a:endParaRPr lang="en-US" sz="1250" dirty="0"/>
          </a:p>
        </p:txBody>
      </p:sp>
      <p:sp>
        <p:nvSpPr>
          <p:cNvPr id="31" name="Text 26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EC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Split: de senaste 180 dagarna hålls helt utanför träningen (Out-of-Sample) för att undvika look-ahead bias.</a:t>
            </a:r>
            <a:endParaRPr lang="en-US" sz="1150" dirty="0"/>
          </a:p>
        </p:txBody>
      </p:sp>
      <p:sp>
        <p:nvSpPr>
          <p:cNvPr id="32" name="Text 27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E9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KronosFlow AI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1000/-mnt-exos-4-python-jensen-webb-sommar-projekt/9ca695cc-9ab3-437d-be00-29339472fdd2/scratchpad/pptx_build/network_mint.png">    </p:cNvPr>
          <p:cNvPicPr>
            <a:picLocks noChangeAspect="1"/>
          </p:cNvPicPr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6522415" y="-274320"/>
            <a:ext cx="6035040" cy="7406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4FA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FÖRKLARBARHET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Vart tittar modellen?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Attention-vikter, verkligt exempel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228600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EC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Attention-mekanismen adderades specifikt för att kunna inspektera vilka av de 30 dagarna i sekvensen modellen faktiskt lutar sig mot — snarare än att bara lita på en svart låda.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3429000"/>
            <a:ext cx="5120640" cy="1554480"/>
          </a:xfrm>
          <a:prstGeom prst="roundRect">
            <a:avLst>
              <a:gd name="adj" fmla="val 5294"/>
            </a:avLst>
          </a:prstGeom>
          <a:solidFill>
            <a:srgbClr val="132247"/>
          </a:solidFill>
          <a:ln w="12700">
            <a:solidFill>
              <a:srgbClr val="2B3E6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3657600"/>
            <a:ext cx="548640" cy="548640"/>
          </a:xfrm>
          <a:prstGeom prst="ellipse">
            <a:avLst/>
          </a:prstGeom>
          <a:solidFill>
            <a:srgbClr val="4FACFE"/>
          </a:solidFill>
          <a:ln/>
        </p:spPr>
      </p:sp>
      <p:pic>
        <p:nvPicPr>
          <p:cNvPr id="8" name="Image 1" descr="/tmp/claude-1000/-mnt-exos-4-python-jensen-webb-sommar-projekt/9ca695cc-9ab3-437d-be00-29339472fdd2/scratchpad/pptx_build/icons/ey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770" y="3734410"/>
            <a:ext cx="395021" cy="39502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08760" y="3566160"/>
            <a:ext cx="3977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Resultat: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EC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modellen fördelar vikt ojämnt över sekvensen — en bekräftelse på att mekanismen faktiskt gör nytta, inte bara ett genomsnitt.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989320" y="1417320"/>
            <a:ext cx="5669280" cy="493776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30814">
                <a:alpha val="35000"/>
              </a:srgbClr>
            </a:outerShdw>
          </a:effectLst>
        </p:spPr>
      </p:sp>
      <p:pic>
        <p:nvPicPr>
          <p:cNvPr id="11" name="Image 2" descr="/tmp/claude-1000/-mnt-exos-4-python-jensen-webb-sommar-projekt/9ca695cc-9ab3-437d-be00-29339472fdd2/scratchpad/pptx_assets/attention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172200" y="1645920"/>
            <a:ext cx="5257800" cy="44805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E9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KronosFlow AI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1000/-mnt-exos-4-python-jensen-webb-sommar-projekt/9ca695cc-9ab3-437d-be00-29339472fdd2/scratchpad/pptx_build/network_sky.png">    </p:cNvPr>
          <p:cNvPicPr>
            <a:picLocks noChangeAspect="1"/>
          </p:cNvPicPr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6522415" y="-274320"/>
            <a:ext cx="6035040" cy="7406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4FA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MILSTOLPE 6 — UTVÄRDERING &amp; BACKTESTING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 Report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691640"/>
            <a:ext cx="5394960" cy="2743200"/>
          </a:xfrm>
          <a:prstGeom prst="roundRect">
            <a:avLst>
              <a:gd name="adj" fmla="val 3000"/>
            </a:avLst>
          </a:prstGeom>
          <a:solidFill>
            <a:srgbClr val="132247"/>
          </a:solidFill>
          <a:ln w="12700">
            <a:solidFill>
              <a:srgbClr val="2B3E6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737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A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48840"/>
          <a:ext cx="521208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097280"/>
                <a:gridCol w="1097280"/>
                <a:gridCol w="10972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5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 (Sälj)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EC0E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EC0E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3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 (Behåll)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EC0E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EC0E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D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3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(Köp)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EC0E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EC0E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38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640080" y="40690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EC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0.495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6355080" y="1737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+ Attention</a:t>
            </a:r>
            <a:endParaRPr lang="en-US" sz="15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2148840"/>
          <a:ext cx="521208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097280"/>
                <a:gridCol w="1097280"/>
                <a:gridCol w="10972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5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 (Sälj)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EC0E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EC0E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3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 (Behåll)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EC0E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EC0E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D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3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(Köp)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EC0E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EC0E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6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38"/>
                    </a:solidFill>
                  </a:tcPr>
                </a:tc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6355080" y="40690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EC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0.382</a:t>
            </a:r>
            <a:endParaRPr lang="en-US" sz="1150" dirty="0"/>
          </a:p>
        </p:txBody>
      </p:sp>
      <p:sp>
        <p:nvSpPr>
          <p:cNvPr id="12" name="Shape 7"/>
          <p:cNvSpPr/>
          <p:nvPr/>
        </p:nvSpPr>
        <p:spPr>
          <a:xfrm>
            <a:off x="548640" y="4617720"/>
            <a:ext cx="11064240" cy="1234440"/>
          </a:xfrm>
          <a:prstGeom prst="roundRect">
            <a:avLst>
              <a:gd name="adj" fmla="val 6667"/>
            </a:avLst>
          </a:prstGeom>
          <a:solidFill>
            <a:srgbClr val="132247"/>
          </a:solidFill>
          <a:ln w="12700">
            <a:solidFill>
              <a:srgbClr val="2B3E6B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822960" y="4773168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Läsanvisning: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EC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balanserar precision och recall — HOLD:s F1 (0.207 / 0.239) är klart svagast av de tre klasserna för båda modellerna, vilket bekräftar samma HOLD-svaghet som synts genom hela genomgången.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E9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KronosFlow AI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1000/-mnt-exos-4-python-jensen-webb-sommar-projekt/9ca695cc-9ab3-437d-be00-29339472fdd2/scratchpad/pptx_build/network_mint.png">    </p:cNvPr>
          <p:cNvPicPr>
            <a:picLocks noChangeAspect="1"/>
          </p:cNvPicPr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6522415" y="-274320"/>
            <a:ext cx="6035040" cy="7406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4FA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MILSTOLPE 6 — UTVÄRDERING &amp; BACKTESTING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Confusion Matrix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11064240" cy="4572000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30814">
                <a:alpha val="35000"/>
              </a:srgbClr>
            </a:outerShdw>
          </a:effectLst>
        </p:spPr>
      </p:sp>
      <p:pic>
        <p:nvPicPr>
          <p:cNvPr id="6" name="Image 1" descr="/tmp/claude-1000/-mnt-exos-4-python-jensen-webb-sommar-projekt/9ca695cc-9ab3-437d-be00-29339472fdd2/scratchpad/pptx_assets/confusion_matrix_big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14400" y="1874520"/>
            <a:ext cx="10332720" cy="4023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E9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KronosFlow AI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1000/-mnt-exos-4-python-jensen-webb-sommar-projekt/9ca695cc-9ab3-437d-be00-29339472fdd2/scratchpad/pptx_build/network_sky.png">    </p:cNvPr>
          <p:cNvPicPr>
            <a:picLocks noChangeAspect="1"/>
          </p:cNvPicPr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6522415" y="-274320"/>
            <a:ext cx="6035040" cy="7406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4FA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MILSTOLPE 6 — UTVÄRDERING &amp; BACKTESTING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ROC-kurva (one-vs-rest)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745236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30814">
                <a:alpha val="35000"/>
              </a:srgbClr>
            </a:outerShdw>
          </a:effectLst>
        </p:spPr>
      </p:sp>
      <p:pic>
        <p:nvPicPr>
          <p:cNvPr id="6" name="Image 1" descr="/tmp/claude-1000/-mnt-exos-4-python-jensen-webb-sommar-projekt/9ca695cc-9ab3-437d-be00-29339472fdd2/scratchpad/pptx_assets/roc_big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77240" y="1737360"/>
            <a:ext cx="6995160" cy="40690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0" y="1691640"/>
            <a:ext cx="3429000" cy="1234440"/>
          </a:xfrm>
          <a:prstGeom prst="roundRect">
            <a:avLst>
              <a:gd name="adj" fmla="val 6667"/>
            </a:avLst>
          </a:prstGeom>
          <a:solidFill>
            <a:srgbClr val="132247"/>
          </a:solidFill>
          <a:ln w="12700">
            <a:solidFill>
              <a:srgbClr val="2B3E6B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8458200" y="178308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FAC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0.62</a:t>
            </a:r>
            <a:endParaRPr lang="en-US" sz="3000" dirty="0"/>
          </a:p>
        </p:txBody>
      </p:sp>
      <p:sp>
        <p:nvSpPr>
          <p:cNvPr id="9" name="Text 5"/>
          <p:cNvSpPr/>
          <p:nvPr/>
        </p:nvSpPr>
        <p:spPr>
          <a:xfrm>
            <a:off x="8458200" y="24688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EC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ROC-AUC (RF)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8229600" y="3172968"/>
            <a:ext cx="3429000" cy="1234440"/>
          </a:xfrm>
          <a:prstGeom prst="roundRect">
            <a:avLst>
              <a:gd name="adj" fmla="val 6667"/>
            </a:avLst>
          </a:prstGeom>
          <a:solidFill>
            <a:srgbClr val="132247"/>
          </a:solidFill>
          <a:ln w="12700">
            <a:solidFill>
              <a:srgbClr val="2B3E6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458200" y="3264408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D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0.59</a:t>
            </a:r>
            <a:endParaRPr lang="en-US" sz="3000" dirty="0"/>
          </a:p>
        </p:txBody>
      </p:sp>
      <p:sp>
        <p:nvSpPr>
          <p:cNvPr id="12" name="Text 8"/>
          <p:cNvSpPr/>
          <p:nvPr/>
        </p:nvSpPr>
        <p:spPr>
          <a:xfrm>
            <a:off x="8458200" y="395020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EC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ROC-AUC (LSTM)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8229600" y="4654296"/>
            <a:ext cx="3429000" cy="1234440"/>
          </a:xfrm>
          <a:prstGeom prst="roundRect">
            <a:avLst>
              <a:gd name="adj" fmla="val 6667"/>
            </a:avLst>
          </a:prstGeom>
          <a:solidFill>
            <a:srgbClr val="132247"/>
          </a:solidFill>
          <a:ln w="12700">
            <a:solidFill>
              <a:srgbClr val="2B3E6B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458200" y="4745736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D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3000" dirty="0"/>
          </a:p>
        </p:txBody>
      </p:sp>
      <p:sp>
        <p:nvSpPr>
          <p:cNvPr id="15" name="Text 11"/>
          <p:cNvSpPr/>
          <p:nvPr/>
        </p:nvSpPr>
        <p:spPr>
          <a:xfrm>
            <a:off x="8458200" y="5431536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EC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Bättre än slump (0.50) för båda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E9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KronosFlow AI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1000/-mnt-exos-4-python-jensen-webb-sommar-projekt/9ca695cc-9ab3-437d-be00-29339472fdd2/scratchpad/pptx_build/network_mint.png">    </p:cNvPr>
          <p:cNvPicPr>
            <a:picLocks noChangeAspect="1"/>
          </p:cNvPicPr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6522415" y="-274320"/>
            <a:ext cx="6035040" cy="7406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4FA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MILSTOLPE 6 — UTVÄRDERING &amp; BACKTESTING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Precision-Recall-kurva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745236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30814">
                <a:alpha val="35000"/>
              </a:srgbClr>
            </a:outerShdw>
          </a:effectLst>
        </p:spPr>
      </p:sp>
      <p:pic>
        <p:nvPicPr>
          <p:cNvPr id="6" name="Image 1" descr="/tmp/claude-1000/-mnt-exos-4-python-jensen-webb-sommar-projekt/9ca695cc-9ab3-437d-be00-29339472fdd2/scratchpad/pptx_assets/pr_big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77240" y="1737360"/>
            <a:ext cx="6995160" cy="40690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0" y="1691640"/>
            <a:ext cx="3429000" cy="4297680"/>
          </a:xfrm>
          <a:prstGeom prst="roundRect">
            <a:avLst>
              <a:gd name="adj" fmla="val 2400"/>
            </a:avLst>
          </a:prstGeom>
          <a:solidFill>
            <a:srgbClr val="132247"/>
          </a:solidFill>
          <a:ln w="12700">
            <a:solidFill>
              <a:srgbClr val="2B3E6B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8503920" y="1920240"/>
            <a:ext cx="548640" cy="548640"/>
          </a:xfrm>
          <a:prstGeom prst="ellipse">
            <a:avLst/>
          </a:prstGeom>
          <a:solidFill>
            <a:srgbClr val="FFD166"/>
          </a:solidFill>
          <a:ln/>
        </p:spPr>
      </p:sp>
      <p:pic>
        <p:nvPicPr>
          <p:cNvPr id="9" name="Image 2" descr="/tmp/claude-1000/-mnt-exos-4-python-jensen-webb-sommar-projekt/9ca695cc-9ab3-437d-be00-29339472fdd2/scratchpad/pptx_build/icons/warn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0730" y="1997050"/>
            <a:ext cx="395021" cy="39502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503920" y="2606040"/>
            <a:ext cx="30175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AP ≈ 0.19 (RF) / 0.15 (LSTM) —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EC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klart lägst av de tre klasserna. Precision-Recall är extra känsligt för obalans — det bekräftar samma HOLD-svaghet visuellt, tydligare än ROC-kurvan gör.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E9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KronosFlow AI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1000/-mnt-exos-4-python-jensen-webb-sommar-projekt/9ca695cc-9ab3-437d-be00-29339472fdd2/scratchpad/pptx_build/network_sky.png">    </p:cNvPr>
          <p:cNvPicPr>
            <a:picLocks noChangeAspect="1"/>
          </p:cNvPicPr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6522415" y="-274320"/>
            <a:ext cx="6035040" cy="7406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MILSTOLPE 6 — ETT HINDER VI FAKTISKT HITTADE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86868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HOLD-klassen kollapsade helt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48640" y="196596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F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0.000</a:t>
            </a:r>
            <a:endParaRPr lang="en-US" sz="5600" dirty="0"/>
          </a:p>
        </p:txBody>
      </p:sp>
      <p:sp>
        <p:nvSpPr>
          <p:cNvPr id="6" name="Text 3"/>
          <p:cNvSpPr/>
          <p:nvPr/>
        </p:nvSpPr>
        <p:spPr>
          <a:xfrm>
            <a:off x="548640" y="2825496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F1-score (v1) — RF &amp; LSTM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3337560"/>
            <a:ext cx="91440" cy="9144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3172968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E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generate_labels: SELL vid −3% (5 dagar), annars BUY vid +1.5% — asymmetriskt.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3904488"/>
            <a:ext cx="91440" cy="9144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3739896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E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triggas mycket lättare än SELL → HOLD (kräver att inget slår in) blir ovanligast.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4471416"/>
            <a:ext cx="91440" cy="9144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4306824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E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Fördelning: BUY 7 342 · SELL 3 718 · HOLD 2 280 rader.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5257800"/>
            <a:ext cx="6309360" cy="1005840"/>
          </a:xfrm>
          <a:prstGeom prst="roundRect">
            <a:avLst>
              <a:gd name="adj" fmla="val 8182"/>
            </a:avLst>
          </a:prstGeom>
          <a:solidFill>
            <a:srgbClr val="0E2A3E"/>
          </a:solidFill>
          <a:ln w="12700">
            <a:solidFill>
              <a:srgbClr val="2B3E6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77240" y="5458968"/>
            <a:ext cx="566928" cy="566928"/>
          </a:xfrm>
          <a:prstGeom prst="ellipse">
            <a:avLst/>
          </a:prstGeom>
          <a:solidFill>
            <a:srgbClr val="FFD166"/>
          </a:solidFill>
          <a:ln/>
        </p:spPr>
      </p:sp>
      <p:pic>
        <p:nvPicPr>
          <p:cNvPr id="15" name="Image 1" descr="/tmp/claude-1000/-mnt-exos-4-python-jensen-webb-sommar-projekt/9ca695cc-9ab3-437d-be00-29339472fdd2/scratchpad/pptx_build/icons/bol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610" y="5538338"/>
            <a:ext cx="408188" cy="40818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508760" y="5349240"/>
            <a:ext cx="5166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Även split-datumet var ett hinder: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evaluate.py använde pd.Timestamp.now() istället för ett fast datum — resultat ändrades varje körning.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E9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KronosFlow AI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1000/-mnt-exos-4-python-jensen-webb-sommar-projekt/9ca695cc-9ab3-437d-be00-29339472fdd2/scratchpad/pptx_build/network_mint.png">    </p:cNvPr>
          <p:cNvPicPr>
            <a:picLocks noChangeAspect="1"/>
          </p:cNvPicPr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6522415" y="-274320"/>
            <a:ext cx="6035040" cy="7406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4FA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MILSTOLPE 8 — EN ANDRA, AVGRÄNSAD ITERATION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Från v1 till v2: tre riktade ändringar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737360"/>
            <a:ext cx="548640" cy="548640"/>
          </a:xfrm>
          <a:prstGeom prst="ellipse">
            <a:avLst/>
          </a:prstGeom>
          <a:solidFill>
            <a:srgbClr val="4FACFE"/>
          </a:solidFill>
          <a:ln/>
        </p:spPr>
      </p:sp>
      <p:pic>
        <p:nvPicPr>
          <p:cNvPr id="6" name="Image 1" descr="/tmp/claude-1000/-mnt-exos-4-python-jensen-webb-sommar-projekt/9ca695cc-9ab3-437d-be00-29339472fdd2/scratchpad/pptx_build/icons/balan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50" y="1814170"/>
            <a:ext cx="395021" cy="39502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34440" y="171907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Symmetriska etikett-trösklar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1234440" y="2048256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EC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±2% istället för −3% / +1.5% — tar bort BUY-biaset.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548640" y="2697480"/>
            <a:ext cx="548640" cy="548640"/>
          </a:xfrm>
          <a:prstGeom prst="ellipse">
            <a:avLst/>
          </a:prstGeom>
          <a:solidFill>
            <a:srgbClr val="4FACFE"/>
          </a:solidFill>
          <a:ln/>
        </p:spPr>
      </p:sp>
      <p:pic>
        <p:nvPicPr>
          <p:cNvPr id="10" name="Image 2" descr="/tmp/claude-1000/-mnt-exos-4-python-jensen-webb-sommar-projekt/9ca695cc-9ab3-437d-be00-29339472fdd2/scratchpad/pptx_build/icons/cog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450" y="2774290"/>
            <a:ext cx="395021" cy="39502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34440" y="267919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Klassviktad Random Forest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1234440" y="3008376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EC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class_weight="balanced", samma princip som LSTM:ens Focal Loss.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548640" y="3657600"/>
            <a:ext cx="548640" cy="548640"/>
          </a:xfrm>
          <a:prstGeom prst="ellipse">
            <a:avLst/>
          </a:prstGeom>
          <a:solidFill>
            <a:srgbClr val="4FACFE"/>
          </a:solidFill>
          <a:ln/>
        </p:spPr>
      </p:sp>
      <p:pic>
        <p:nvPicPr>
          <p:cNvPr id="14" name="Image 3" descr="/tmp/claude-1000/-mnt-exos-4-python-jensen-webb-sommar-projekt/9ca695cc-9ab3-437d-be00-29339472fdd2/scratchpad/pptx_build/icons/sync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450" y="3734410"/>
            <a:ext cx="395021" cy="395021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34440" y="363931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Dubblerat LSTM-epoker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1234440" y="3968496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EC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→ 30 epoker för bättre konvergens.</a:t>
            </a:r>
            <a:endParaRPr lang="en-US" sz="1050" dirty="0"/>
          </a:p>
        </p:txBody>
      </p:sp>
      <p:sp>
        <p:nvSpPr>
          <p:cNvPr id="17" name="Shape 11"/>
          <p:cNvSpPr/>
          <p:nvPr/>
        </p:nvSpPr>
        <p:spPr>
          <a:xfrm>
            <a:off x="548640" y="4800600"/>
            <a:ext cx="5577840" cy="1508760"/>
          </a:xfrm>
          <a:prstGeom prst="roundRect">
            <a:avLst>
              <a:gd name="adj" fmla="val 5455"/>
            </a:avLst>
          </a:prstGeom>
          <a:solidFill>
            <a:srgbClr val="132247"/>
          </a:solidFill>
          <a:ln w="12700">
            <a:solidFill>
              <a:srgbClr val="2B3E6B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822960" y="4956048"/>
            <a:ext cx="5120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Metodisk gräns: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EC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sparades fryst (models/v1_baseline/) innan något ändrades. Vi körde v2 en gång och stannade — upprepad justering mot samma testfönster hade riskerat overfitting mot facit.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6446520" y="1554480"/>
            <a:ext cx="5212080" cy="4754880"/>
          </a:xfrm>
          <a:prstGeom prst="roundRect">
            <a:avLst>
              <a:gd name="adj" fmla="val 17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30814">
                <a:alpha val="35000"/>
              </a:srgbClr>
            </a:outerShdw>
          </a:effectLst>
        </p:spPr>
      </p:sp>
      <p:sp>
        <p:nvSpPr>
          <p:cNvPr id="20" name="Text 14"/>
          <p:cNvSpPr/>
          <p:nvPr/>
        </p:nvSpPr>
        <p:spPr>
          <a:xfrm>
            <a:off x="6720840" y="17373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HOLD-klassens F1-score, v1 vs v2</a:t>
            </a:r>
            <a:endParaRPr lang="en-US" sz="13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6675120" y="2194560"/>
          <a:ext cx="47091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2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E9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KronosFlow AI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1000/-mnt-exos-4-python-jensen-webb-sommar-projekt/9ca695cc-9ab3-437d-be00-29339472fdd2/scratchpad/pptx_build/network_sky.png">    </p:cNvPr>
          <p:cNvPicPr>
            <a:picLocks noChangeAspect="1"/>
          </p:cNvPicPr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6522415" y="-274320"/>
            <a:ext cx="6035040" cy="7406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4FA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ÄRLIG REFLEKTION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Bättre klassificerare ≠ bättre handlare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5212080" cy="4709160"/>
          </a:xfrm>
          <a:prstGeom prst="roundRect">
            <a:avLst>
              <a:gd name="adj" fmla="val 17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30814">
                <a:alpha val="3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17830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Snittavkastning per modell (%)</a:t>
            </a:r>
            <a:endParaRPr lang="en-US" sz="13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777240" y="2240280"/>
          <a:ext cx="48006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Shape 4"/>
          <p:cNvSpPr/>
          <p:nvPr/>
        </p:nvSpPr>
        <p:spPr>
          <a:xfrm>
            <a:off x="5989320" y="1600200"/>
            <a:ext cx="5669280" cy="1417320"/>
          </a:xfrm>
          <a:prstGeom prst="roundRect">
            <a:avLst>
              <a:gd name="adj" fmla="val 5806"/>
            </a:avLst>
          </a:prstGeom>
          <a:solidFill>
            <a:srgbClr val="132247"/>
          </a:solidFill>
          <a:ln w="12700">
            <a:solidFill>
              <a:srgbClr val="2B3E6B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6263640" y="1810512"/>
            <a:ext cx="548640" cy="548640"/>
          </a:xfrm>
          <a:prstGeom prst="ellipse">
            <a:avLst/>
          </a:prstGeom>
          <a:solidFill>
            <a:srgbClr val="06D6A0"/>
          </a:solidFill>
          <a:ln/>
        </p:spPr>
      </p:sp>
      <p:pic>
        <p:nvPicPr>
          <p:cNvPr id="10" name="Image 1" descr="/tmp/claude-1000/-mnt-exos-4-python-jensen-webb-sommar-projekt/9ca695cc-9ab3-437d-be00-29339472fdd2/scratchpad/pptx_build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0450" y="1887322"/>
            <a:ext cx="395021" cy="39502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949440" y="1737360"/>
            <a:ext cx="4480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Fungerade: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EC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 upp för båda modellerna, HOLD-F1 0 → 0.21–0.24, LSTM slår nu Buy &amp; Hold (−0.40% → +4.51%).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5989320" y="3200400"/>
            <a:ext cx="5669280" cy="1417320"/>
          </a:xfrm>
          <a:prstGeom prst="roundRect">
            <a:avLst>
              <a:gd name="adj" fmla="val 5806"/>
            </a:avLst>
          </a:prstGeom>
          <a:solidFill>
            <a:srgbClr val="132247"/>
          </a:solidFill>
          <a:ln w="12700">
            <a:solidFill>
              <a:srgbClr val="2B3E6B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6263640" y="3410712"/>
            <a:ext cx="548640" cy="548640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14" name="Image 2" descr="/tmp/claude-1000/-mnt-exos-4-python-jensen-webb-sommar-projekt/9ca695cc-9ab3-437d-be00-29339472fdd2/scratchpad/pptx_build/icons/warnin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0450" y="3487522"/>
            <a:ext cx="395021" cy="395021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949440" y="3337560"/>
            <a:ext cx="4480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Men, ärligt: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EC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RF:s avkastning sjönk under Buy &amp; Hold (4.10% → 2.69%) trots bättre klassificeringsmetrik — UP-recall sjönk när modellen slutade "gissa UP".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5989320" y="4800600"/>
            <a:ext cx="5669280" cy="1508760"/>
          </a:xfrm>
          <a:prstGeom prst="roundRect">
            <a:avLst>
              <a:gd name="adj" fmla="val 5455"/>
            </a:avLst>
          </a:prstGeom>
          <a:solidFill>
            <a:srgbClr val="132247"/>
          </a:solidFill>
          <a:ln w="12700">
            <a:solidFill>
              <a:srgbClr val="2B3E6B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6263640" y="5010912"/>
            <a:ext cx="548640" cy="548640"/>
          </a:xfrm>
          <a:prstGeom prst="ellipse">
            <a:avLst/>
          </a:prstGeom>
          <a:solidFill>
            <a:srgbClr val="FFD166"/>
          </a:solidFill>
          <a:ln/>
        </p:spPr>
      </p:sp>
      <p:pic>
        <p:nvPicPr>
          <p:cNvPr id="18" name="Image 3" descr="/tmp/claude-1000/-mnt-exos-4-python-jensen-webb-sommar-projekt/9ca695cc-9ab3-437d-be00-29339472fdd2/scratchpad/pptx_build/icons/lightbulb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0450" y="5087722"/>
            <a:ext cx="395021" cy="395021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949440" y="4937760"/>
            <a:ext cx="44805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Lärdom: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EC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klassificeringskvalitet och finansiellt utfall är inte samma sak. Nästa steg vore att optimera handelströsklarna separat från klassificeraren.</a:t>
            </a:r>
            <a:endParaRPr lang="en-US" sz="1100" dirty="0"/>
          </a:p>
        </p:txBody>
      </p:sp>
      <p:sp>
        <p:nvSpPr>
          <p:cNvPr id="20" name="Text 1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E9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KronosFlow AI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1000/-mnt-exos-4-python-jensen-webb-sommar-projekt/9ca695cc-9ab3-437d-be00-29339472fdd2/scratchpad/pptx_build/network_sky.png">    </p:cNvPr>
          <p:cNvPicPr>
            <a:picLocks noChangeAspect="1"/>
          </p:cNvPicPr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6522415" y="-274320"/>
            <a:ext cx="6035040" cy="7406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4FA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MILSTOLPE 7 — STREAMLIT-DASHBOARD &amp; DEPLOYMENT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8686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KronosFlow AI Observatory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Modellövervakning, beslutslogg &amp; finansiell backtesting i realtid — venv/bin/streamlit run src/dashboard.py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965960"/>
            <a:ext cx="11064240" cy="4343400"/>
          </a:xfrm>
          <a:prstGeom prst="roundRect">
            <a:avLst>
              <a:gd name="adj" fmla="val 1474"/>
            </a:avLst>
          </a:prstGeom>
          <a:solidFill>
            <a:srgbClr val="0C1730"/>
          </a:solidFill>
          <a:ln w="12700">
            <a:solidFill>
              <a:srgbClr val="20315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965960"/>
            <a:ext cx="11064240" cy="365760"/>
          </a:xfrm>
          <a:prstGeom prst="roundRect">
            <a:avLst>
              <a:gd name="adj" fmla="val 17500"/>
            </a:avLst>
          </a:prstGeom>
          <a:solidFill>
            <a:srgbClr val="0C1730"/>
          </a:solidFill>
          <a:ln/>
        </p:spPr>
      </p:sp>
      <p:sp>
        <p:nvSpPr>
          <p:cNvPr id="8" name="Shape 5"/>
          <p:cNvSpPr/>
          <p:nvPr/>
        </p:nvSpPr>
        <p:spPr>
          <a:xfrm>
            <a:off x="731520" y="2103120"/>
            <a:ext cx="100584" cy="100584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9" name="Shape 6"/>
          <p:cNvSpPr/>
          <p:nvPr/>
        </p:nvSpPr>
        <p:spPr>
          <a:xfrm>
            <a:off x="932688" y="2103120"/>
            <a:ext cx="100584" cy="100584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0" name="Shape 7"/>
          <p:cNvSpPr/>
          <p:nvPr/>
        </p:nvSpPr>
        <p:spPr>
          <a:xfrm>
            <a:off x="1133856" y="2103120"/>
            <a:ext cx="100584" cy="100584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11" name="Text 8"/>
          <p:cNvSpPr/>
          <p:nvPr/>
        </p:nvSpPr>
        <p:spPr>
          <a:xfrm>
            <a:off x="1463040" y="20391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F8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localhost:8501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868680" y="25603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D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2.69%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868680" y="30632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Modellavkastning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520440" y="25603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AC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4.08%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3520440" y="30632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&amp; Hold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172200" y="25603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D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41.0%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6172200" y="30632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Vinstfrekvens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8823960" y="25603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126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8823960" y="30632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Antal affärer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868680" y="3566160"/>
            <a:ext cx="10424160" cy="0"/>
          </a:xfrm>
          <a:prstGeom prst="line">
            <a:avLst/>
          </a:prstGeom>
          <a:noFill/>
          <a:ln w="12700">
            <a:solidFill>
              <a:srgbClr val="20315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68680" y="374904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F8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Priskurva &amp; signaler · Random Forest vs LSTM (Attention) · Confusion Matrix · Global jämförelse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 flipV="1">
            <a:off x="868680" y="5381244"/>
            <a:ext cx="868680" cy="347472"/>
          </a:xfrm>
          <a:prstGeom prst="line">
            <a:avLst/>
          </a:prstGeom>
          <a:noFill/>
          <a:ln w="31750">
            <a:solidFill>
              <a:srgbClr val="06D6A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737360" y="5381244"/>
            <a:ext cx="868680" cy="173736"/>
          </a:xfrm>
          <a:prstGeom prst="line">
            <a:avLst/>
          </a:prstGeom>
          <a:noFill/>
          <a:ln w="31750">
            <a:solidFill>
              <a:srgbClr val="06D6A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 flipV="1">
            <a:off x="2606040" y="5120640"/>
            <a:ext cx="868680" cy="434340"/>
          </a:xfrm>
          <a:prstGeom prst="line">
            <a:avLst/>
          </a:prstGeom>
          <a:noFill/>
          <a:ln w="31750">
            <a:solidFill>
              <a:srgbClr val="06D6A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474720" y="5120640"/>
            <a:ext cx="868680" cy="138989"/>
          </a:xfrm>
          <a:prstGeom prst="line">
            <a:avLst/>
          </a:prstGeom>
          <a:noFill/>
          <a:ln w="31750">
            <a:solidFill>
              <a:srgbClr val="06D6A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 flipV="1">
            <a:off x="4343400" y="4912157"/>
            <a:ext cx="868680" cy="347472"/>
          </a:xfrm>
          <a:prstGeom prst="line">
            <a:avLst/>
          </a:prstGeom>
          <a:noFill/>
          <a:ln w="31750">
            <a:solidFill>
              <a:srgbClr val="06D6A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212080" y="4912157"/>
            <a:ext cx="868680" cy="121615"/>
          </a:xfrm>
          <a:prstGeom prst="line">
            <a:avLst/>
          </a:prstGeom>
          <a:noFill/>
          <a:ln w="31750">
            <a:solidFill>
              <a:srgbClr val="06D6A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 flipV="1">
            <a:off x="6080760" y="4634179"/>
            <a:ext cx="868680" cy="399593"/>
          </a:xfrm>
          <a:prstGeom prst="line">
            <a:avLst/>
          </a:prstGeom>
          <a:noFill/>
          <a:ln w="31750">
            <a:solidFill>
              <a:srgbClr val="06D6A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949440" y="4634179"/>
            <a:ext cx="868680" cy="138989"/>
          </a:xfrm>
          <a:prstGeom prst="line">
            <a:avLst/>
          </a:prstGeom>
          <a:noFill/>
          <a:ln w="31750">
            <a:solidFill>
              <a:srgbClr val="06D6A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818120" y="4773168"/>
            <a:ext cx="868680" cy="173736"/>
          </a:xfrm>
          <a:prstGeom prst="line">
            <a:avLst/>
          </a:prstGeom>
          <a:noFill/>
          <a:ln w="31750">
            <a:solidFill>
              <a:srgbClr val="06D6A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 flipV="1">
            <a:off x="8686800" y="4564685"/>
            <a:ext cx="868680" cy="382219"/>
          </a:xfrm>
          <a:prstGeom prst="line">
            <a:avLst/>
          </a:prstGeom>
          <a:noFill/>
          <a:ln w="31750">
            <a:solidFill>
              <a:srgbClr val="06D6A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 flipV="1">
            <a:off x="9555480" y="4338828"/>
            <a:ext cx="868680" cy="225857"/>
          </a:xfrm>
          <a:prstGeom prst="line">
            <a:avLst/>
          </a:prstGeom>
          <a:noFill/>
          <a:ln w="31750">
            <a:solidFill>
              <a:srgbClr val="06D6A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 flipV="1">
            <a:off x="10424160" y="4251960"/>
            <a:ext cx="868680" cy="86868"/>
          </a:xfrm>
          <a:prstGeom prst="line">
            <a:avLst/>
          </a:prstGeom>
          <a:noFill/>
          <a:ln w="31750">
            <a:solidFill>
              <a:srgbClr val="06D6A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E9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KronosFlow AI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1000/-mnt-exos-4-python-jensen-webb-sommar-projekt/9ca695cc-9ab3-437d-be00-29339472fdd2/scratchpad/pptx_build/network_mint.png">    </p:cNvPr>
          <p:cNvPicPr>
            <a:picLocks noChangeAspect="1"/>
          </p:cNvPicPr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6522415" y="-274320"/>
            <a:ext cx="6035040" cy="7406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4FA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VÄGEN FRAMÅT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Nästa steg, om projektet drivs vidare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828800"/>
            <a:ext cx="534924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30814">
                <a:alpha val="3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22960" y="2121408"/>
            <a:ext cx="594360" cy="594360"/>
          </a:xfrm>
          <a:prstGeom prst="ellipse">
            <a:avLst/>
          </a:prstGeom>
          <a:solidFill>
            <a:srgbClr val="4FACFE"/>
          </a:solidFill>
          <a:ln/>
        </p:spPr>
      </p:sp>
      <p:pic>
        <p:nvPicPr>
          <p:cNvPr id="7" name="Image 1" descr="/tmp/claude-1000/-mnt-exos-4-python-jensen-webb-sommar-projekt/9ca695cc-9ab3-437d-be00-29339472fdd2/scratchpad/pptx_build/icons/compas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170" y="2204618"/>
            <a:ext cx="427939" cy="42793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00200" y="2103120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Optimera handelströsklar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822960" y="2788920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 från klassificeraren — adressera RF:s avkastningstapp direkt.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6217920" y="1828800"/>
            <a:ext cx="534924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30814">
                <a:alpha val="3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492240" y="2121408"/>
            <a:ext cx="594360" cy="594360"/>
          </a:xfrm>
          <a:prstGeom prst="ellipse">
            <a:avLst/>
          </a:prstGeom>
          <a:solidFill>
            <a:srgbClr val="FFD166"/>
          </a:solidFill>
          <a:ln/>
        </p:spPr>
      </p:sp>
      <p:pic>
        <p:nvPicPr>
          <p:cNvPr id="12" name="Image 2" descr="/tmp/claude-1000/-mnt-exos-4-python-jensen-webb-sommar-projekt/9ca695cc-9ab3-437d-be00-29339472fdd2/scratchpad/pptx_build/icons/chartAre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5450" y="2204618"/>
            <a:ext cx="427939" cy="42793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269480" y="2103120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Bidirektionell LSTM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6492240" y="2788920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 modellen kontext från båda riktningarna i sekvensen.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4023360"/>
            <a:ext cx="534924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30814">
                <a:alpha val="35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22960" y="4315968"/>
            <a:ext cx="594360" cy="594360"/>
          </a:xfrm>
          <a:prstGeom prst="ellipse">
            <a:avLst/>
          </a:prstGeom>
          <a:solidFill>
            <a:srgbClr val="06D6A0"/>
          </a:solidFill>
          <a:ln/>
        </p:spPr>
      </p:sp>
      <p:pic>
        <p:nvPicPr>
          <p:cNvPr id="17" name="Image 3" descr="/tmp/claude-1000/-mnt-exos-4-python-jensen-webb-sommar-projekt/9ca695cc-9ab3-437d-be00-29339472fdd2/scratchpad/pptx_build/icons/shie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6170" y="4399178"/>
            <a:ext cx="427939" cy="42793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600200" y="4297680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Nästa iteration mot nytt fönster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822960" y="4983480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Validera v2:s förbättring mot en färsk, ännu ej sedd period.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6217920" y="4023360"/>
            <a:ext cx="534924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30814">
                <a:alpha val="35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492240" y="4315968"/>
            <a:ext cx="594360" cy="594360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22" name="Image 4" descr="/tmp/claude-1000/-mnt-exos-4-python-jensen-webb-sommar-projekt/9ca695cc-9ab3-437d-be00-29339472fdd2/scratchpad/pptx_build/icons/rocke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5450" y="4399178"/>
            <a:ext cx="427939" cy="427939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269480" y="4297680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Live-scanner &amp; schemaläggning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6492240" y="4983480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src/schedule_ingestion.py förberedd för daglig, automatiserad datainsamling.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E9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KronosFlow AI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1000/-mnt-exos-4-python-jensen-webb-sommar-projekt/9ca695cc-9ab3-437d-be00-29339472fdd2/scratchpad/pptx_build/network_mint.png">    </p:cNvPr>
          <p:cNvPicPr>
            <a:picLocks noChangeAspect="1"/>
          </p:cNvPicPr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6522415" y="-274320"/>
            <a:ext cx="6035040" cy="7406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228600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Tack.</a:t>
            </a:r>
            <a:endParaRPr lang="en-US" sz="5000" dirty="0"/>
          </a:p>
        </p:txBody>
      </p:sp>
      <p:sp>
        <p:nvSpPr>
          <p:cNvPr id="4" name="Text 1"/>
          <p:cNvSpPr/>
          <p:nvPr/>
        </p:nvSpPr>
        <p:spPr>
          <a:xfrm>
            <a:off x="868680" y="3246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F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KronosFlow AI — från rådata till handelssignal, med kvitton på vägen.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68680" y="42976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D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868680" y="4800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milstolpar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474720" y="42976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D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3474720" y="4800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OMXS30-aktier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080760" y="42976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D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0.62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6080760" y="4800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ROC-AUC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686800" y="42976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D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+4.51%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8686800" y="4800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vs 4.08% B&amp;H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68680" y="6035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8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notebooks/project_journey.ipynb  ·  src/dashboard.py  ·  README.md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KronosFlow AI</dc:title>
  <dc:subject>KronosFlow AI — Projektpresentation</dc:subject>
  <dc:creator/>
  <cp:lastModifiedBy/>
  <cp:revision>1</cp:revision>
  <dcterms:created xsi:type="dcterms:W3CDTF">2026-09-01T16:45:12Z</dcterms:created>
  <dcterms:modified xsi:type="dcterms:W3CDTF">2026-09-01T16:45:12Z</dcterms:modified>
</cp:coreProperties>
</file>